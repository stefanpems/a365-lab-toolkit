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7040880" y="-548640"/>
            <a:ext cx="2926080" cy="2926080"/>
          </a:xfrm>
          <a:prstGeom prst="rect">
            <a:avLst/>
          </a:prstGeom>
          <a:solidFill>
            <a:srgbClr val="15254D"/>
          </a:solidFill>
          <a:ln/>
        </p:spPr>
      </p:sp>
      <p:sp>
        <p:nvSpPr>
          <p:cNvPr id="4" name="Shape 2"/>
          <p:cNvSpPr/>
          <p:nvPr/>
        </p:nvSpPr>
        <p:spPr>
          <a:xfrm rot="1200000">
            <a:off x="7863840" y="182880"/>
            <a:ext cx="1828800" cy="1828800"/>
          </a:xfrm>
          <a:prstGeom prst="rect">
            <a:avLst/>
          </a:prstGeom>
          <a:solidFill>
            <a:srgbClr val="2D6CDF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160520"/>
            <a:ext cx="9144000" cy="82296"/>
          </a:xfrm>
          <a:prstGeom prst="rect">
            <a:avLst/>
          </a:prstGeom>
          <a:solidFill>
            <a:srgbClr val="36C5F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36C5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AGENT 365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0352" y="1371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Agent Lab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Eight ready-to-deploy agent variants and a wizard-driven toolchain — all integrated into Microsoft Agent 365.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10128"/>
            <a:ext cx="1817827" cy="384048"/>
          </a:xfrm>
          <a:prstGeom prst="rect">
            <a:avLst/>
          </a:prstGeom>
          <a:solidFill>
            <a:srgbClr val="15254D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310128"/>
            <a:ext cx="181782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agent variants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31059" y="3310128"/>
            <a:ext cx="1548994" cy="384048"/>
          </a:xfrm>
          <a:prstGeom prst="rect">
            <a:avLst/>
          </a:prstGeom>
          <a:solidFill>
            <a:srgbClr val="15254D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1059" y="3310128"/>
            <a:ext cx="154899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web UI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44645" y="3310128"/>
            <a:ext cx="1817827" cy="384048"/>
          </a:xfrm>
          <a:prstGeom prst="rect">
            <a:avLst/>
          </a:prstGeom>
          <a:solidFill>
            <a:srgbClr val="15254D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44645" y="3310128"/>
            <a:ext cx="181782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MCP (BYO)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27064" y="3310128"/>
            <a:ext cx="1997050" cy="384048"/>
          </a:xfrm>
          <a:prstGeom prst="rect">
            <a:avLst/>
          </a:prstGeom>
          <a:solidFill>
            <a:srgbClr val="15254D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3310128"/>
            <a:ext cx="199705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companion agents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Framework-agnostic by design · MAF today · read-only reporting &amp; safe teardown included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36C5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6C5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this lab is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hands-on lab that shows the SAME agent experience across every Agent 365 hosting and identity model — so you can compare them, test them, and build on them.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9776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828800"/>
            <a:ext cx="82296" cy="2148840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1947672"/>
            <a:ext cx="3630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For IT admins &amp; architects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6656" y="2286000"/>
            <a:ext cx="3593592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Exercise every hosting model (ACA · Foundry Hosted · Foundry Declarative)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identity models: on-behalf-of, service-to-service, digital worker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Entra Agent ID, licensing, admin-center publish and tool governance end to end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 tool behaviour: Mail / Work IQ / bring-your-own MCP through the A365 gateway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828800"/>
            <a:ext cx="39776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828800"/>
            <a:ext cx="82296" cy="2148840"/>
          </a:xfrm>
          <a:prstGeom prst="rect">
            <a:avLst/>
          </a:prstGeom>
          <a:solidFill>
            <a:srgbClr val="00B294"/>
          </a:solidFill>
          <a:ln/>
        </p:spPr>
      </p:sp>
      <p:sp>
        <p:nvSpPr>
          <p:cNvPr id="13" name="Text 11"/>
          <p:cNvSpPr/>
          <p:nvPr/>
        </p:nvSpPr>
        <p:spPr>
          <a:xfrm>
            <a:off x="4928616" y="1947672"/>
            <a:ext cx="3630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For developers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28616" y="2286000"/>
            <a:ext cx="3593592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Real, modifiable sample agents already wired into Agent 365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secret-free plan drives scaffolding and deployment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companion web UI to chat with the OBO / S2S agents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Framework-agnostic layout (MAF today; other frameworks planned)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is provisioned by a wizard agent and torn down safely — no environment values are ever hard-coded in the repo.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Agent 365 — Agent Lab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36C5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6C5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BIG PICTURE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Architecture at a glance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920240" cy="914400"/>
          </a:xfrm>
          <a:prstGeom prst="rect">
            <a:avLst/>
          </a:prstGeom>
          <a:solidFill>
            <a:srgbClr val="2D6CD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356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170992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7E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UI (SPA) · Teams · Outlook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88920" y="1325880"/>
            <a:ext cx="1828800" cy="914400"/>
          </a:xfrm>
          <a:prstGeom prst="rect">
            <a:avLst/>
          </a:prstGeom>
          <a:solidFill>
            <a:srgbClr val="0F1B3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88920" y="14356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Agent 365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880360" y="170992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7E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Gateway · Entra Agent ID · governance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0" y="1097280"/>
            <a:ext cx="3657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170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Agent variants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66360" y="1554480"/>
            <a:ext cx="1097280" cy="868680"/>
          </a:xfrm>
          <a:prstGeom prst="rect">
            <a:avLst/>
          </a:prstGeom>
          <a:solidFill>
            <a:srgbClr val="2D6CD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66360" y="16642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257800" y="19385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7E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 Apps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55080" y="1554480"/>
            <a:ext cx="1097280" cy="868680"/>
          </a:xfrm>
          <a:prstGeom prst="rect">
            <a:avLst/>
          </a:prstGeom>
          <a:solidFill>
            <a:srgbClr val="00B294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16642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46520" y="19385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7E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Hosted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543800" y="1554480"/>
            <a:ext cx="1005840" cy="868680"/>
          </a:xfrm>
          <a:prstGeom prst="rect">
            <a:avLst/>
          </a:prstGeom>
          <a:solidFill>
            <a:srgbClr val="7C5CFC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43800" y="16642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635240" y="193852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7E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Declarative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66360" y="2514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× OBO · S2S · DW  (identity)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66360" y="2880360"/>
            <a:ext cx="3383280" cy="457200"/>
          </a:xfrm>
          <a:prstGeom prst="rect">
            <a:avLst/>
          </a:prstGeom>
          <a:solidFill>
            <a:srgbClr val="15254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166360" y="29900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Azure OpenAI · Foundry model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3611880"/>
            <a:ext cx="2651760" cy="868680"/>
          </a:xfrm>
          <a:prstGeom prst="rect">
            <a:avLst/>
          </a:prstGeom>
          <a:solidFill>
            <a:srgbClr val="15254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37216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Tools via MCP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39959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7E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Mail · Work IQ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0" y="3611880"/>
            <a:ext cx="2651760" cy="868680"/>
          </a:xfrm>
          <a:prstGeom prst="rect">
            <a:avLst/>
          </a:prstGeom>
          <a:solidFill>
            <a:srgbClr val="15254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91840" y="37216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Custom MCP (BYO)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383280" y="39959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7E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anon /anon · auth /auth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26480" y="3611880"/>
            <a:ext cx="2560320" cy="868680"/>
          </a:xfrm>
          <a:prstGeom prst="rect">
            <a:avLst/>
          </a:prstGeom>
          <a:solidFill>
            <a:srgbClr val="15254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126480" y="37216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365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217920" y="39959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7E1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mailbox · licenses · admin center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377440" y="1783080"/>
            <a:ext cx="411480" cy="0"/>
          </a:xfrm>
          <a:prstGeom prst="line">
            <a:avLst/>
          </a:prstGeom>
          <a:noFill/>
          <a:ln w="25400">
            <a:solidFill>
              <a:srgbClr val="2D6CDF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617720" y="1783080"/>
            <a:ext cx="411480" cy="0"/>
          </a:xfrm>
          <a:prstGeom prst="line">
            <a:avLst/>
          </a:prstGeom>
          <a:noFill/>
          <a:ln w="25400">
            <a:solidFill>
              <a:srgbClr val="2D6CDF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Agent 365 — Agent Lab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36C5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6C5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EIGHT VARIANTS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Hosting × identity matrix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417320" y="1078992"/>
            <a:ext cx="2395728" cy="310896"/>
          </a:xfrm>
          <a:prstGeom prst="rect">
            <a:avLst/>
          </a:prstGeom>
          <a:solidFill>
            <a:srgbClr val="0F1B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OBO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7E1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 behalf of the user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22776" y="1078992"/>
            <a:ext cx="2395728" cy="310896"/>
          </a:xfrm>
          <a:prstGeom prst="rect">
            <a:avLst/>
          </a:prstGeom>
          <a:solidFill>
            <a:srgbClr val="0F1B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S2S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7E1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own app identity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28232" y="1078992"/>
            <a:ext cx="2395728" cy="310896"/>
          </a:xfrm>
          <a:prstGeom prst="rect">
            <a:avLst/>
          </a:prstGeom>
          <a:solidFill>
            <a:srgbClr val="0F1B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DW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7E1F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digital worker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896112" cy="914400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17320"/>
            <a:ext cx="896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ACA</a:t>
            </a:r>
            <a:endParaRPr lang="en-US" sz="13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A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Azure Container Apps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417320" y="1417320"/>
            <a:ext cx="23957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17320" y="1417320"/>
            <a:ext cx="64008" cy="914400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13" name="Text 11"/>
          <p:cNvSpPr/>
          <p:nvPr/>
        </p:nvSpPr>
        <p:spPr>
          <a:xfrm>
            <a:off x="1563624" y="1508760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ACA-OBO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563624" y="1801368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Acts as the signed-in user; manifest-driven tools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922776" y="1417320"/>
            <a:ext cx="23957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22776" y="1417320"/>
            <a:ext cx="64008" cy="914400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17" name="Text 15"/>
          <p:cNvSpPr/>
          <p:nvPr/>
        </p:nvSpPr>
        <p:spPr>
          <a:xfrm>
            <a:off x="4069080" y="1508760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ACA-S2S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69080" y="1801368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 app identity; LLM + app-role tools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28232" y="1417320"/>
            <a:ext cx="23957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28232" y="1417320"/>
            <a:ext cx="64008" cy="914400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21" name="Text 19"/>
          <p:cNvSpPr/>
          <p:nvPr/>
        </p:nvSpPr>
        <p:spPr>
          <a:xfrm>
            <a:off x="6574536" y="1508760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ACA-DW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74536" y="1801368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Autopilot AI teammate; hired in Teams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441448"/>
            <a:ext cx="896112" cy="914400"/>
          </a:xfrm>
          <a:prstGeom prst="rect">
            <a:avLst/>
          </a:prstGeom>
          <a:solidFill>
            <a:srgbClr val="00B29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441448"/>
            <a:ext cx="896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FH</a:t>
            </a:r>
            <a:endParaRPr lang="en-US" sz="13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A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Foundry Hosted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417320" y="2441448"/>
            <a:ext cx="23957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17320" y="2441448"/>
            <a:ext cx="64008" cy="914400"/>
          </a:xfrm>
          <a:prstGeom prst="rect">
            <a:avLst/>
          </a:prstGeom>
          <a:solidFill>
            <a:srgbClr val="00B294"/>
          </a:solidFill>
          <a:ln/>
        </p:spPr>
      </p:sp>
      <p:sp>
        <p:nvSpPr>
          <p:cNvPr id="27" name="Text 25"/>
          <p:cNvSpPr/>
          <p:nvPr/>
        </p:nvSpPr>
        <p:spPr>
          <a:xfrm>
            <a:off x="1563624" y="2532888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FH-OBO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563624" y="2825496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Invocations protocol; per-request user token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922776" y="2441448"/>
            <a:ext cx="23957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22776" y="2441448"/>
            <a:ext cx="64008" cy="914400"/>
          </a:xfrm>
          <a:prstGeom prst="rect">
            <a:avLst/>
          </a:prstGeom>
          <a:solidFill>
            <a:srgbClr val="00B294"/>
          </a:solidFill>
          <a:ln/>
        </p:spPr>
      </p:sp>
      <p:sp>
        <p:nvSpPr>
          <p:cNvPr id="31" name="Text 29"/>
          <p:cNvSpPr/>
          <p:nvPr/>
        </p:nvSpPr>
        <p:spPr>
          <a:xfrm>
            <a:off x="4069080" y="2532888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FH-S2S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069080" y="2825496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Responses protocol; own agent identity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28232" y="2441448"/>
            <a:ext cx="23957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28232" y="2441448"/>
            <a:ext cx="64008" cy="914400"/>
          </a:xfrm>
          <a:prstGeom prst="rect">
            <a:avLst/>
          </a:prstGeom>
          <a:solidFill>
            <a:srgbClr val="00B294"/>
          </a:solidFill>
          <a:ln/>
        </p:spPr>
      </p:sp>
      <p:sp>
        <p:nvSpPr>
          <p:cNvPr id="35" name="Text 33"/>
          <p:cNvSpPr/>
          <p:nvPr/>
        </p:nvSpPr>
        <p:spPr>
          <a:xfrm>
            <a:off x="6574536" y="2532888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FH-DW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574536" y="2825496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 + Azure Bot Service; Teams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3465576"/>
            <a:ext cx="896112" cy="914400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3465576"/>
            <a:ext cx="896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FD</a:t>
            </a:r>
            <a:endParaRPr lang="en-US" sz="13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A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Foundry Declarative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417320" y="3465576"/>
            <a:ext cx="23957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17320" y="3465576"/>
            <a:ext cx="64008" cy="914400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41" name="Text 39"/>
          <p:cNvSpPr/>
          <p:nvPr/>
        </p:nvSpPr>
        <p:spPr>
          <a:xfrm>
            <a:off x="1563624" y="3557016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FD-OBO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563624" y="3849624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agent; Mail MCP via token passthrough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922776" y="3465576"/>
            <a:ext cx="23957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922776" y="3465576"/>
            <a:ext cx="64008" cy="914400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45" name="Text 43"/>
          <p:cNvSpPr/>
          <p:nvPr/>
        </p:nvSpPr>
        <p:spPr>
          <a:xfrm>
            <a:off x="4069080" y="3557016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FD-S2S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4069080" y="3849624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agent; conversational, own identity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28232" y="3465576"/>
            <a:ext cx="2395728" cy="914400"/>
          </a:xfrm>
          <a:prstGeom prst="rect">
            <a:avLst/>
          </a:prstGeom>
          <a:solidFill>
            <a:srgbClr val="ECEFF3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28232" y="3465576"/>
            <a:ext cx="64008" cy="914400"/>
          </a:xfrm>
          <a:prstGeom prst="rect">
            <a:avLst/>
          </a:prstGeom>
          <a:solidFill>
            <a:srgbClr val="9AA7B8"/>
          </a:solidFill>
          <a:ln/>
        </p:spPr>
      </p:sp>
      <p:sp>
        <p:nvSpPr>
          <p:cNvPr id="49" name="Text 47"/>
          <p:cNvSpPr/>
          <p:nvPr/>
        </p:nvSpPr>
        <p:spPr>
          <a:xfrm>
            <a:off x="6574536" y="3557016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A7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FD-DW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6574536" y="3849624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9AA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available — prompt agents can't be autopilot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Hosting = how it runs · Identity = who it acts as · names carry the framework (MAF-ACA-OBO). FD-DW excluded.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Agent 365 — Agent Lab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36C5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6C5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 the agent acts as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82296" cy="3108960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353312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OBO — on behalf of user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" y="1691640"/>
            <a:ext cx="235915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6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Delegated identity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 the signed-in user's token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Downstream calls run as the user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MCP works (user owns the connection)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surface: web UI tab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123444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234440"/>
            <a:ext cx="82296" cy="3108960"/>
          </a:xfrm>
          <a:prstGeom prst="rect">
            <a:avLst/>
          </a:prstGeom>
          <a:solidFill>
            <a:srgbClr val="00B294"/>
          </a:solidFill>
          <a:ln/>
        </p:spPr>
      </p:sp>
      <p:sp>
        <p:nvSpPr>
          <p:cNvPr id="12" name="Text 10"/>
          <p:cNvSpPr/>
          <p:nvPr/>
        </p:nvSpPr>
        <p:spPr>
          <a:xfrm>
            <a:off x="3557016" y="1353312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S2S — service-to-service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57016" y="1691640"/>
            <a:ext cx="235915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6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 application identity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credentials of the blueprint app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signed-in user context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Delegated Work IQ / BYO MCP not applicable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surface: web UI tab (identity-agnostic)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234440"/>
            <a:ext cx="24688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234440"/>
            <a:ext cx="82296" cy="3108960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16" name="Text 14"/>
          <p:cNvSpPr/>
          <p:nvPr/>
        </p:nvSpPr>
        <p:spPr>
          <a:xfrm>
            <a:off x="6437376" y="1353312"/>
            <a:ext cx="2121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DW — digital worker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37376" y="1691640"/>
            <a:ext cx="208483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6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Autopilot AI teammate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 own agent identity + mailbox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Per-instance identity when hired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Frontier / Agent 365 licenses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surface: Teams (after hire)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Agent 365 — Agent Lab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36C5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6C5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the agent runs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82296" cy="3108960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353312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ACA — Azure Container Apps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" y="1691640"/>
            <a:ext cx="235915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6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Hosted with the A365 SDK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 app + managed identity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Manifest-driven MCP tools (generic)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Deploy: deploy-aca*.ps1 / az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Variants: OBO · S2S · DW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123444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234440"/>
            <a:ext cx="82296" cy="3108960"/>
          </a:xfrm>
          <a:prstGeom prst="rect">
            <a:avLst/>
          </a:prstGeom>
          <a:solidFill>
            <a:srgbClr val="00B294"/>
          </a:solidFill>
          <a:ln/>
        </p:spPr>
      </p:sp>
      <p:sp>
        <p:nvSpPr>
          <p:cNvPr id="12" name="Text 10"/>
          <p:cNvSpPr/>
          <p:nvPr/>
        </p:nvSpPr>
        <p:spPr>
          <a:xfrm>
            <a:off x="3557016" y="1353312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FH — Foundry Hosted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57016" y="1691640"/>
            <a:ext cx="235915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6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azd provision / deploy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account + project + model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OBO = Invocations · S2S = Responses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DW = container + Azure Bot Service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or reused Foundry footprint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234440"/>
            <a:ext cx="24688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234440"/>
            <a:ext cx="82296" cy="3108960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16" name="Text 14"/>
          <p:cNvSpPr/>
          <p:nvPr/>
        </p:nvSpPr>
        <p:spPr>
          <a:xfrm>
            <a:off x="6437376" y="1353312"/>
            <a:ext cx="2121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FD — Foundry Declarative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37376" y="1691640"/>
            <a:ext cx="208483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6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agents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Deployed via deploy_agent.py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 via connectors / token passthrough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Used through the Responses API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OBO · S2S (no DW)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Agent 365 — Agent Lab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36C5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6C5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each agent is used &amp; tested</a:t>
            </a:r>
            <a:endParaRPr lang="en-US" sz="2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00400"/>
                <a:gridCol w="32918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Surface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Agents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How it is activated</a:t>
                      </a:r>
                      <a:endParaRPr lang="en-US" sz="11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 UI (SPA)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ACA-OBO · ACA-S2S · FH-OBO · FH-S2S · FD-OBO · FD-S2S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Per-agent tab in the shared MSAL SPA (Azure Static Web Apps); sign in and chat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Teams / Outlook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ACA-DW · FH-DW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Published in the M365 admin center, then hired as a digital worker; chat in Teams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Responses API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FD-OBO · FD-S2S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Prompt agents callable directly through the Foundry Responses API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UI exposes only OBO &amp; S2S — DW routes through Teams/Outlook, not the SPA.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each agent goes live the wizard offers a test gate with ready-to-paste prompts.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Agent 365 — Agent Lab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36C5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6C5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TOOLCHAIN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Five companion agents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70432"/>
            <a:ext cx="82296" cy="576072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0700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Lab Builder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12070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Provisions the whole lab: interview → plan → scaffold → deploy.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0" y="120700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D6C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“start”, “create an agent”, “set up the lab”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837944"/>
            <a:ext cx="8229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837944"/>
            <a:ext cx="82296" cy="576072"/>
          </a:xfrm>
          <a:prstGeom prst="rect">
            <a:avLst/>
          </a:prstGeom>
          <a:solidFill>
            <a:srgbClr val="36C5F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8745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Lab Reporter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18745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 status: a lab's web UI URL and a state dashboard.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0" y="1874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D6C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“lab status”, “SWA URL”, “lab report”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505456"/>
            <a:ext cx="8229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505456"/>
            <a:ext cx="82296" cy="576072"/>
          </a:xfrm>
          <a:prstGeom prst="rect">
            <a:avLst/>
          </a:prstGeom>
          <a:solidFill>
            <a:srgbClr val="00B294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54203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Lab Cleaner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26080" y="254203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Deletes a run's Azure + Entra resources and releases licenses.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0" y="254203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D6C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“clean up the lab”, “tear down”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172968"/>
            <a:ext cx="8229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172968"/>
            <a:ext cx="82296" cy="576072"/>
          </a:xfrm>
          <a:prstGeom prst="rect">
            <a:avLst/>
          </a:prstGeom>
          <a:solidFill>
            <a:srgbClr val="F4A733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20954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License Reclaimer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926080" y="320954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Frees M365 license seats from users (without deleting them).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58000" y="320954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D6C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“reclaim licenses”, “free seats”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8229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840480"/>
            <a:ext cx="82296" cy="576072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87705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Risk Setter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926080" y="387705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Sets / clears Entra Agent ID risk for Conditional-Access demos.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58000" y="3877056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D6C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“set agent high risk”, “dismiss risk”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is a VS Code chat agent (invoked by name / trigger phrase). Highlighted: Lab Reporter is new.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Agent 365 — Agent Lab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36C5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6C5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BUILDER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flow: wizard → scaffolding → execution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060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2606040" cy="566928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344168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3441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CD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87552" y="123444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Wizard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1792" y="1938528"/>
            <a:ext cx="23317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Runtime-model gate + confirm tenant/subscription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the variants, web UI, custom MCP, MCP tools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 + one review screen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Writes a secret-free plan (a365-deployment-plan.json)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68980" y="1234440"/>
            <a:ext cx="26060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8980" y="1234440"/>
            <a:ext cx="2606040" cy="566928"/>
          </a:xfrm>
          <a:prstGeom prst="rect">
            <a:avLst/>
          </a:prstGeom>
          <a:solidFill>
            <a:srgbClr val="00B294"/>
          </a:solidFill>
          <a:ln/>
        </p:spPr>
      </p:sp>
      <p:sp>
        <p:nvSpPr>
          <p:cNvPr id="14" name="Shape 12"/>
          <p:cNvSpPr/>
          <p:nvPr/>
        </p:nvSpPr>
        <p:spPr>
          <a:xfrm>
            <a:off x="3378708" y="1344168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378708" y="13441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29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99332" y="123444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Scaffolding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433572" y="1938528"/>
            <a:ext cx="23317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scaffold-from-plan.ps1 (thin router → per-family modules)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Generates generated/&lt;prefix&gt;/ agent folders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UI config.js + custom-MCP files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Prints the exact next commands — no deploy yet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1234440"/>
            <a:ext cx="26060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234440"/>
            <a:ext cx="2606040" cy="566928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190488" y="1344168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190488" y="13441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5C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11112" y="123444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Execution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245352" y="1938528"/>
            <a:ext cx="23317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shell first, then custom MCP, then agents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agent: setup → deploy → wire UI tab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Mandatory test gate per agent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Incremental, testable, secret-safe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08960" y="2743200"/>
            <a:ext cx="146304" cy="0"/>
          </a:xfrm>
          <a:prstGeom prst="line">
            <a:avLst/>
          </a:prstGeom>
          <a:noFill/>
          <a:ln w="31750">
            <a:solidFill>
              <a:srgbClr val="0F1B3D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16168" y="2743200"/>
            <a:ext cx="146304" cy="0"/>
          </a:xfrm>
          <a:prstGeom prst="line">
            <a:avLst/>
          </a:prstGeom>
          <a:noFill/>
          <a:ln w="31750">
            <a:solidFill>
              <a:srgbClr val="0F1B3D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Agent 365 — Agent Lab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36C5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6C5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BUILDER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Inside the wizard interview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216" y="1426464"/>
            <a:ext cx="365760" cy="365760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4264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C5F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325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Runtime-model gate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97280" y="160020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the chat model + reasoning effort before anything runs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093976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" y="2286000"/>
            <a:ext cx="365760" cy="365760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C5F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1854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Tenant + subscription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97280" y="245973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Detect, confirm/override, pin and assert — never hard-coded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953512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5216" y="3145536"/>
            <a:ext cx="365760" cy="365760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" y="31455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C5F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044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Select variants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97280" y="331927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Multi-select of the 8 agent variants to build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813048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5216" y="4005072"/>
            <a:ext cx="365760" cy="365760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" y="4005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C5F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39044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Web UI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97280" y="417880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· create · attach; choose which OBO/S2S agents to expose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17720" y="123444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45736" y="1426464"/>
            <a:ext cx="365760" cy="365760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28" name="Text 26"/>
          <p:cNvSpPr/>
          <p:nvPr/>
        </p:nvSpPr>
        <p:spPr>
          <a:xfrm>
            <a:off x="4745736" y="14264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C5F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57800" y="1325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Custom MCP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257800" y="160020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/ anon / auth / both + integration mode (approve-first default)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0" y="2093976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45736" y="2286000"/>
            <a:ext cx="365760" cy="365760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33" name="Text 31"/>
          <p:cNvSpPr/>
          <p:nvPr/>
        </p:nvSpPr>
        <p:spPr>
          <a:xfrm>
            <a:off x="4745736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C5F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57800" y="21854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Registered MCP tools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257800" y="245973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agent: Work IQ (Mail) / custom ext_ servers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17720" y="2953512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45736" y="3145536"/>
            <a:ext cx="365760" cy="365760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38" name="Text 36"/>
          <p:cNvSpPr/>
          <p:nvPr/>
        </p:nvSpPr>
        <p:spPr>
          <a:xfrm>
            <a:off x="4745736" y="31455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C5F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257800" y="3044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Solution basics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257800" y="331927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 · resource-group strategy · lab prefix (≤12 chars, or ≤9 with a Digital Worker)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17720" y="3813048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45736" y="4005072"/>
            <a:ext cx="365760" cy="365760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43" name="Text 41"/>
          <p:cNvSpPr/>
          <p:nvPr/>
        </p:nvSpPr>
        <p:spPr>
          <a:xfrm>
            <a:off x="4745736" y="4005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C5F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257800" y="39044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 &amp; plan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257800" y="417880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editable screen → secret-free a365-deployment-plan.json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Agent 365 — Agent Lab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36C5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6C5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BUILDER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Execution — incremental &amp; testable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2651760" cy="73152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453896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· Web UI shell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1728216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 up the SPA; hand over the URL up front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25880"/>
            <a:ext cx="2651760" cy="73152"/>
          </a:xfrm>
          <a:prstGeom prst="rect">
            <a:avLst/>
          </a:prstGeom>
          <a:solidFill>
            <a:srgbClr val="00B294"/>
          </a:solidFill>
          <a:ln/>
        </p:spPr>
      </p:sp>
      <p:sp>
        <p:nvSpPr>
          <p:cNvPr id="12" name="Text 10"/>
          <p:cNvSpPr/>
          <p:nvPr/>
        </p:nvSpPr>
        <p:spPr>
          <a:xfrm>
            <a:off x="3401568" y="1453896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· Custom MCP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01568" y="1728216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+ register + admin-approve the BYO servers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126480" y="1325880"/>
            <a:ext cx="2560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325880"/>
            <a:ext cx="2560320" cy="73152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16" name="Text 14"/>
          <p:cNvSpPr/>
          <p:nvPr/>
        </p:nvSpPr>
        <p:spPr>
          <a:xfrm>
            <a:off x="6236208" y="1453896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· Agents (loop)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36208" y="1728216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agent: setup → deploy → wire tab → integrate MCP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3127248" y="1755648"/>
            <a:ext cx="128016" cy="0"/>
          </a:xfrm>
          <a:prstGeom prst="line">
            <a:avLst/>
          </a:prstGeom>
          <a:noFill/>
          <a:ln w="31750">
            <a:solidFill>
              <a:srgbClr val="0F1B3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961888" y="1755648"/>
            <a:ext cx="128016" cy="0"/>
          </a:xfrm>
          <a:prstGeom prst="line">
            <a:avLst/>
          </a:prstGeom>
          <a:noFill/>
          <a:ln w="31750">
            <a:solidFill>
              <a:srgbClr val="0F1B3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7200" y="2514600"/>
            <a:ext cx="82296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6C5F0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514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Mandatory test gate after every agent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30632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hard stop offers “Test now / Continue” before touching the next agent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Ready-to-paste prompts per agent (Mail · Work IQ · custom anon/auth · identity)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Reminds you to hard-reload the web UI so the freshly deployed tab loads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working surface early and a verifiable increment at every step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Agent 365 — Agent Lab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36C5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6C5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REPORTER (NEW)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Read-only status for any lab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it at a lab name (the solution prefix, e.g. a09091) and it reports live state — no changes, ever.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9776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00200"/>
            <a:ext cx="82296" cy="2651760"/>
          </a:xfrm>
          <a:prstGeom prst="rect">
            <a:avLst/>
          </a:prstGeom>
          <a:solidFill>
            <a:srgbClr val="36C5F0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1719072"/>
            <a:ext cx="3630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Web UI URL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6656" y="2057400"/>
            <a:ext cx="3593592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Resolves the lab's Static Web App URL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Copy-friendly link to open and test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quick command, read-only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600200"/>
            <a:ext cx="39776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600200"/>
            <a:ext cx="82296" cy="2651760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13" name="Text 11"/>
          <p:cNvSpPr/>
          <p:nvPr/>
        </p:nvSpPr>
        <p:spPr>
          <a:xfrm>
            <a:off x="4928616" y="1719072"/>
            <a:ext cx="3630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State dashboard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28616" y="2057400"/>
            <a:ext cx="3593592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resources were created and whether they exist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Existence + status across Azure · Entra · Microsoft 365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Consistent tables with colour-coded status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DW instances + the licenses on their agent users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Writes report.md + state.json (fixed structure)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315968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31596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Legend  </a:t>
            </a:r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healthy   🟡 provisioning/degraded   ❌ missing/failed   ⚪ not in this lab   🔵 informational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Agent 365 — Agent Lab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45720"/>
          </a:xfrm>
          <a:prstGeom prst="rect">
            <a:avLst/>
          </a:prstGeom>
          <a:solidFill>
            <a:srgbClr val="36C5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6C5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LIFECYCLE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Cleaner · Reclaimer · Risk Setter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82296" cy="3017520"/>
          </a:xfrm>
          <a:prstGeom prst="rect">
            <a:avLst/>
          </a:prstGeom>
          <a:solidFill>
            <a:srgbClr val="00B294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399032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Lab Cleaner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" y="1737360"/>
            <a:ext cx="2359152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6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teardown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Discovers a run's resources in any state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Checkbox review before deleting anything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Deletes Azure + Entra (incl. recycle bin)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Guarantees M365 license release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128016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280160"/>
            <a:ext cx="82296" cy="3017520"/>
          </a:xfrm>
          <a:prstGeom prst="rect">
            <a:avLst/>
          </a:prstGeom>
          <a:solidFill>
            <a:srgbClr val="F4A733"/>
          </a:solidFill>
          <a:ln/>
        </p:spPr>
      </p:sp>
      <p:sp>
        <p:nvSpPr>
          <p:cNvPr id="12" name="Text 10"/>
          <p:cNvSpPr/>
          <p:nvPr/>
        </p:nvSpPr>
        <p:spPr>
          <a:xfrm>
            <a:off x="3557016" y="1399032"/>
            <a:ext cx="2395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License Reclaimer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57016" y="1737360"/>
            <a:ext cx="2359152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6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seats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Removes license assignments from users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Does NOT delete the users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Honours dependent add-on licenses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Checkbox review + persistent log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4688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F1B3D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280160"/>
            <a:ext cx="82296" cy="3017520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16" name="Text 14"/>
          <p:cNvSpPr/>
          <p:nvPr/>
        </p:nvSpPr>
        <p:spPr>
          <a:xfrm>
            <a:off x="6437376" y="1399032"/>
            <a:ext cx="2121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Risk Setter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37376" y="1737360"/>
            <a:ext cx="2084832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623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Agent ID risk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an agent identity to high risk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Dismiss / confirm-safe the risk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Drives risk-based Conditional Access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Graph beta wrapper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Agent 365 — Agent Lab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21040" y="482803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8016" cy="3200400"/>
          </a:xfrm>
          <a:prstGeom prst="rect">
            <a:avLst/>
          </a:prstGeom>
          <a:solidFill>
            <a:srgbClr val="36C5F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6C5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STARTED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the Lab Builder and say “start”.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2286000"/>
            <a:ext cx="7955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wizard interviews you, writes a secret-free plan, scaffolds, and deploys.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with OBO / S2S agents in the web UI; hire the digital workers in Teams.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any lab with the Lab Reporter; tear it down safely with the Lab Cleaner.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526280"/>
            <a:ext cx="9144000" cy="82296"/>
          </a:xfrm>
          <a:prstGeom prst="rect">
            <a:avLst/>
          </a:prstGeom>
          <a:solidFill>
            <a:srgbClr val="36C5F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6817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Framework-agnostic by design · No environment values hard-coded · Read-only reporting &amp; safe teardown included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Agent 365 — Agent Lab</dc:title>
  <dc:subject>PptxGenJS Presentation</dc:subject>
  <dc:creator>Agent 365 Agent Lab</dc:creator>
  <cp:lastModifiedBy>Agent 365 Agent Lab</cp:lastModifiedBy>
  <cp:revision>1</cp:revision>
  <dcterms:created xsi:type="dcterms:W3CDTF">2026-09-10T00:52:43Z</dcterms:created>
  <dcterms:modified xsi:type="dcterms:W3CDTF">2026-09-10T00:52:43Z</dcterms:modified>
</cp:coreProperties>
</file>